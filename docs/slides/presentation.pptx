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52"/>
                </a:solidFill>
                <a:latin typeface="Consolas"/>
              </a:rPr>
              <a:t>[ </a:t>
            </a:r>
            <a:r>
              <a:rPr sz="1300" b="0" i="0">
                <a:solidFill>
                  <a:srgbClr val="56634F"/>
                </a:solidFill>
                <a:latin typeface="Consolas"/>
              </a:rPr>
              <a:t>COMPUTER VISION MODULE · AI ENGINEER K08-0226</a:t>
            </a:r>
            <a:r>
              <a:rPr sz="1300" b="1" i="0">
                <a:solidFill>
                  <a:srgbClr val="2E7D52"/>
                </a:solidFill>
                <a:latin typeface="Consolas"/>
              </a:rPr>
              <a:t>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E2A20"/>
                </a:solidFill>
                <a:latin typeface="Georgia"/>
              </a:rPr>
              <a:t>Yoga Pose Detection &amp; Form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4612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6634F"/>
                </a:solidFill>
                <a:latin typeface="Calibri"/>
              </a:rPr>
              <a:t>Phát hiện + phân loại tư thế yoga bằng YOLOv8 tự train, chấm điểm form bằng góc khớp MediaPipe, deploy public thật với HTTPS và camera trên iPhone.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480560"/>
            <a:ext cx="5097779" cy="457200"/>
          </a:xfrm>
          <a:prstGeom prst="rect">
            <a:avLst/>
          </a:prstGeom>
          <a:solidFill>
            <a:srgbClr val="EAEEE1"/>
          </a:solidFill>
          <a:ln>
            <a:solidFill>
              <a:srgbClr val="D7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73152"/>
          <a:lstStyle/>
          <a:p>
            <a:pPr algn="ctr"/>
            <a:r>
              <a:rPr sz="1200" b="1" i="0">
                <a:solidFill>
                  <a:srgbClr val="1E2A20"/>
                </a:solidFill>
                <a:latin typeface="Consolas"/>
              </a:rPr>
              <a:t>demo · computer-vision-project.pthieu290998.workers.dev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52"/>
                </a:solidFill>
                <a:latin typeface="Consolas"/>
              </a:rPr>
              <a:t>[ </a:t>
            </a:r>
            <a:r>
              <a:rPr sz="1300" b="0" i="0">
                <a:solidFill>
                  <a:srgbClr val="56634F"/>
                </a:solidFill>
                <a:latin typeface="Consolas"/>
              </a:rPr>
              <a:t>MỞ ĐẦU · BÀI TOÁN</a:t>
            </a:r>
            <a:r>
              <a:rPr sz="1300" b="1" i="0">
                <a:solidFill>
                  <a:srgbClr val="2E7D52"/>
                </a:solidFill>
                <a:latin typeface="Consolas"/>
              </a:rPr>
              <a:t>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E2A20"/>
                </a:solidFill>
                <a:latin typeface="Georgia"/>
              </a:rPr>
              <a:t>Một model train được, làm cả định vị lẫn phân loại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0" i="0">
                <a:solidFill>
                  <a:srgbClr val="56634F"/>
                </a:solidFill>
                <a:latin typeface="Calibri"/>
              </a:rPr>
              <a:t>—  Input: ảnh/video học viên đang tập yoga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56634F"/>
                </a:solidFill>
                <a:latin typeface="Calibri"/>
              </a:rPr>
              <a:t>—  Output: vị trí + tên tư thế, đánh giá form đúng/sai, gợi ý sửa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56634F"/>
                </a:solidFill>
                <a:latin typeface="Calibri"/>
              </a:rPr>
              <a:t>—  Ràng buộc đề bài: bắt buộc 1 model classification/detection/segmentation tự train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56634F"/>
                </a:solidFill>
                <a:latin typeface="Calibri"/>
              </a:rPr>
              <a:t>—  Lựa chọn: YOLOv8 detection — vừa localize vừa classify trong 1 bước, hỗ trợ nhiều học viên/khung hình cùng lúc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210312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/>
            <a:r>
              <a:rPr sz="3400" b="1" i="0">
                <a:solidFill>
                  <a:srgbClr val="2E7D52"/>
                </a:solidFill>
                <a:latin typeface="Georgia"/>
              </a:rPr>
              <a:t>5</a:t>
            </a:r>
          </a:p>
          <a:p>
            <a:r>
              <a:rPr sz="1100" b="0" i="0">
                <a:solidFill>
                  <a:srgbClr val="56634F"/>
                </a:solidFill>
                <a:latin typeface="Consolas"/>
              </a:rPr>
              <a:t>LỚP TƯ THẾ
bridge · downward · plank
shoulderstand ·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52"/>
                </a:solidFill>
                <a:latin typeface="Consolas"/>
              </a:rPr>
              <a:t>[ </a:t>
            </a:r>
            <a:r>
              <a:rPr sz="1300" b="0" i="0">
                <a:solidFill>
                  <a:srgbClr val="56634F"/>
                </a:solidFill>
                <a:latin typeface="Consolas"/>
              </a:rPr>
              <a:t>KIẾN TRÚC · 2 LỚP ĐỘC LẬP</a:t>
            </a:r>
            <a:r>
              <a:rPr sz="1300" b="1" i="0">
                <a:solidFill>
                  <a:srgbClr val="2E7D52"/>
                </a:solidFill>
                <a:latin typeface="Consolas"/>
              </a:rPr>
              <a:t>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E2A20"/>
                </a:solidFill>
                <a:latin typeface="Georgia"/>
              </a:rPr>
              <a:t>Model train được, model mượn, và luật tay — không trộn lẫn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</a:p>
          <a:p>
            <a:r>
              <a:rPr sz="1800" b="1" i="0">
                <a:solidFill>
                  <a:srgbClr val="1E2A20"/>
                </a:solidFill>
                <a:latin typeface="Georgia"/>
              </a:rPr>
              <a:t>YOLOv8 (ONNX)</a:t>
            </a:r>
          </a:p>
          <a:p>
            <a:r>
              <a:rPr sz="1200" b="0" i="0">
                <a:solidFill>
                  <a:srgbClr val="56634F"/>
                </a:solidFill>
                <a:latin typeface="Calibri"/>
              </a:rPr>
              <a:t>Detect + classify tư thế trong 1 bước. Rubric mục 1-4, 7 chấm điểm lớp này.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1371600" cy="292608"/>
          </a:xfrm>
          <a:prstGeom prst="rect">
            <a:avLst/>
          </a:prstGeom>
          <a:solidFill>
            <a:srgbClr val="E4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0" bIns="0"/>
          <a:lstStyle/>
          <a:p>
            <a:pPr algn="ctr"/>
            <a:r>
              <a:rPr sz="1000" b="1" i="0">
                <a:solidFill>
                  <a:srgbClr val="2E7D52"/>
                </a:solidFill>
                <a:latin typeface="Consolas"/>
              </a:rPr>
              <a:t>TRAINED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2377440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</a:p>
          <a:p>
            <a:r>
              <a:rPr sz="1800" b="1" i="0">
                <a:solidFill>
                  <a:srgbClr val="1E2A20"/>
                </a:solidFill>
                <a:latin typeface="Georgia"/>
              </a:rPr>
              <a:t>MediaPipe Pose</a:t>
            </a:r>
          </a:p>
          <a:p>
            <a:r>
              <a:rPr sz="1200" b="0" i="0">
                <a:solidFill>
                  <a:srgbClr val="56634F"/>
                </a:solidFill>
                <a:latin typeface="Calibri"/>
              </a:rPr>
              <a:t>33 keypoint mỗi box, dùng nguyên off-the-shelf, không train lại, không tính accuracy riêng.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36008" y="2560320"/>
            <a:ext cx="1371600" cy="292608"/>
          </a:xfrm>
          <a:prstGeom prst="rect">
            <a:avLst/>
          </a:prstGeom>
          <a:solidFill>
            <a:srgbClr val="F5E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0" bIns="0"/>
          <a:lstStyle/>
          <a:p>
            <a:pPr algn="ctr"/>
            <a:r>
              <a:rPr sz="1000" b="1" i="0">
                <a:solidFill>
                  <a:srgbClr val="8A6D1F"/>
                </a:solidFill>
                <a:latin typeface="Consolas"/>
              </a:rPr>
              <a:t>PRETRAINED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2377440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</a:p>
          <a:p>
            <a:r>
              <a:rPr sz="1800" b="1" i="0">
                <a:solidFill>
                  <a:srgbClr val="1E2A20"/>
                </a:solidFill>
                <a:latin typeface="Georgia"/>
              </a:rPr>
              <a:t>score_pose()</a:t>
            </a:r>
          </a:p>
          <a:p>
            <a:r>
              <a:rPr sz="1200" b="0" i="0">
                <a:solidFill>
                  <a:srgbClr val="56634F"/>
                </a:solidFill>
                <a:latin typeface="Calibri"/>
              </a:rPr>
              <a:t>So góc khớp với POSE_RULES hiệu chỉnh thủ công. Rubric mục 6 — “ý tưởng riêng”.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30768" y="2560320"/>
            <a:ext cx="1371600" cy="292608"/>
          </a:xfrm>
          <a:prstGeom prst="rect">
            <a:avLst/>
          </a:prstGeom>
          <a:solidFill>
            <a:srgbClr val="EA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0" bIns="0"/>
          <a:lstStyle/>
          <a:p>
            <a:pPr algn="ctr"/>
            <a:r>
              <a:rPr sz="1000" b="1" i="0">
                <a:solidFill>
                  <a:srgbClr val="5A4A9C"/>
                </a:solidFill>
                <a:latin typeface="Consolas"/>
              </a:rPr>
              <a:t>RULE-BASED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52"/>
                </a:solidFill>
                <a:latin typeface="Consolas"/>
              </a:rPr>
              <a:t>[ </a:t>
            </a:r>
            <a:r>
              <a:rPr sz="1300" b="0" i="0">
                <a:solidFill>
                  <a:srgbClr val="56634F"/>
                </a:solidFill>
                <a:latin typeface="Consolas"/>
              </a:rPr>
              <a:t>GIAI ĐOẠN 01 · DỮ LIỆU</a:t>
            </a:r>
            <a:r>
              <a:rPr sz="1300" b="1" i="0">
                <a:solidFill>
                  <a:srgbClr val="2E7D52"/>
                </a:solidFill>
                <a:latin typeface="Consolas"/>
              </a:rPr>
              <a:t>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E2A20"/>
                </a:solidFill>
                <a:latin typeface="Georgia"/>
              </a:rPr>
              <a:t>v1 chạy hết vòng đời thật — v2 dừng ở thiết kế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0" i="0">
                <a:solidFill>
                  <a:srgbClr val="56634F"/>
                </a:solidFill>
                <a:latin typeface="Calibri"/>
              </a:rPr>
              <a:t>—  v1: 5 lớp, format YOLO có sẵn bbox, nguồn Roboflow “YOLO YOGA Dataset”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56634F"/>
                </a:solidFill>
                <a:latin typeface="Calibri"/>
              </a:rPr>
              <a:t>—  Augmentation: fliplr bật, flipud tắt (lật dọc phá vỡ ý nghĩa tư thế), degrees giới hạn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56634F"/>
                </a:solidFill>
                <a:latin typeface="Calibri"/>
              </a:rPr>
              <a:t>—  v2 (15-20 lớp, Yoga-82 + pseudo-label): code đã thiết kế sẵn (bootstrap_bboxes()) nhưng không triển khai — v1 đã đủ robust (xem GĐ 05)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214884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/>
            <a:r>
              <a:rPr sz="3400" b="1" i="0">
                <a:solidFill>
                  <a:srgbClr val="2E7D52"/>
                </a:solidFill>
                <a:latin typeface="Georgia"/>
              </a:rPr>
              <a:t>v1 · LIVE</a:t>
            </a:r>
          </a:p>
          <a:p>
            <a:r>
              <a:rPr sz="1100" b="0" i="0">
                <a:solidFill>
                  <a:srgbClr val="56634F"/>
                </a:solidFill>
                <a:latin typeface="Consolas"/>
              </a:rPr>
              <a:t>download → train → ablation → eval → export → deploy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333756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/>
            <a:r>
              <a:rPr sz="3400" b="1" i="0">
                <a:solidFill>
                  <a:srgbClr val="C4482E"/>
                </a:solidFill>
                <a:latin typeface="Georgia"/>
              </a:rPr>
              <a:t>v2 · STUB</a:t>
            </a:r>
          </a:p>
          <a:p>
            <a:r>
              <a:rPr sz="1100" b="0" i="0">
                <a:solidFill>
                  <a:srgbClr val="56634F"/>
                </a:solidFill>
                <a:latin typeface="Consolas"/>
              </a:rPr>
              <a:t>bootstrap_bbox.py — NotImplementedError, chưa cần chạy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52"/>
                </a:solidFill>
                <a:latin typeface="Consolas"/>
              </a:rPr>
              <a:t>[ </a:t>
            </a:r>
            <a:r>
              <a:rPr sz="1300" b="0" i="0">
                <a:solidFill>
                  <a:srgbClr val="56634F"/>
                </a:solidFill>
                <a:latin typeface="Consolas"/>
              </a:rPr>
              <a:t>GIAI ĐOẠN 02-03 · TRAINING &amp; ABLATION</a:t>
            </a:r>
            <a:r>
              <a:rPr sz="1300" b="1" i="0">
                <a:solidFill>
                  <a:srgbClr val="2E7D52"/>
                </a:solidFill>
                <a:latin typeface="Consolas"/>
              </a:rPr>
              <a:t>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E2A20"/>
                </a:solidFill>
                <a:latin typeface="Georgia"/>
              </a:rPr>
              <a:t>Cùng seed, đổi đúng 1 biến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6634F"/>
                </a:solidFill>
                <a:latin typeface="Consolas"/>
              </a:rPr>
              <a:t>model yolov8n.pt  ·  seed 42  ·  epochs 50  ·  imgsz 640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9601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3200400"/>
              </a:tblGrid>
              <a:tr h="48768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56634F"/>
                          </a:solidFill>
                          <a:latin typeface="Consolas"/>
                        </a:rPr>
                        <a:t>RUN</a:t>
                      </a:r>
                    </a:p>
                  </a:txBody>
                  <a:tcPr>
                    <a:solidFill>
                      <a:srgbClr val="F3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56634F"/>
                          </a:solidFill>
                          <a:latin typeface="Consolas"/>
                        </a:rPr>
                        <a:t>AUGMENTATION</a:t>
                      </a:r>
                    </a:p>
                  </a:txBody>
                  <a:tcPr>
                    <a:solidFill>
                      <a:srgbClr val="F3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56634F"/>
                          </a:solidFill>
                          <a:latin typeface="Consolas"/>
                        </a:rPr>
                        <a:t>KẾT QUẢ</a:t>
                      </a:r>
                    </a:p>
                  </a:txBody>
                  <a:tcPr>
                    <a:solidFill>
                      <a:srgbClr val="F3F5E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E7D52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E4F0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E7D52"/>
                          </a:solidFill>
                          <a:latin typeface="Calibri"/>
                        </a:rPr>
                        <a:t>ON</a:t>
                      </a:r>
                    </a:p>
                  </a:txBody>
                  <a:tcPr>
                    <a:solidFill>
                      <a:srgbClr val="E4F0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E7D52"/>
                          </a:solidFill>
                          <a:latin typeface="Calibri"/>
                        </a:rPr>
                        <a:t>Thắng — chọn làm config chính thức</a:t>
                      </a:r>
                    </a:p>
                  </a:txBody>
                  <a:tcPr>
                    <a:solidFill>
                      <a:srgbClr val="E4F0E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E2A20"/>
                          </a:solidFill>
                          <a:latin typeface="Calibri"/>
                        </a:rPr>
                        <a:t>Ablation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E2A20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E2A20"/>
                          </a:solidFill>
                          <a:latin typeface="Calibri"/>
                        </a:rPr>
                        <a:t>So sánh, không chọn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023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6634F"/>
                </a:solidFill>
                <a:latin typeface="Calibri"/>
              </a:rPr>
              <a:t>Số mAP@0.5 / mAP@0.5:0.95 thật — xem bảng đầy đủ trong docs/problem_statement.md.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52"/>
                </a:solidFill>
                <a:latin typeface="Consolas"/>
              </a:rPr>
              <a:t>[ </a:t>
            </a:r>
            <a:r>
              <a:rPr sz="1300" b="0" i="0">
                <a:solidFill>
                  <a:srgbClr val="56634F"/>
                </a:solidFill>
                <a:latin typeface="Consolas"/>
              </a:rPr>
              <a:t>GIAI ĐOẠN 04 · EVALUATION &amp; ERROR ANALYSIS</a:t>
            </a:r>
            <a:r>
              <a:rPr sz="1300" b="1" i="0">
                <a:solidFill>
                  <a:srgbClr val="2E7D52"/>
                </a:solidFill>
                <a:latin typeface="Consolas"/>
              </a:rPr>
              <a:t>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E2A20"/>
                </a:solidFill>
                <a:latin typeface="Georgia"/>
              </a:rPr>
              <a:t>Confusion matrix sạch, EigenCAM xác nhận nhìn đúng chỗ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0" i="0">
                <a:solidFill>
                  <a:srgbClr val="56634F"/>
                </a:solidFill>
                <a:latin typeface="Calibri"/>
              </a:rPr>
              <a:t>—  Confusion matrix: không có cặp lớp nào bị nhầm đáng kể trong tập test (cùng phân bố training)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56634F"/>
                </a:solidFill>
                <a:latin typeface="Calibri"/>
              </a:rPr>
              <a:t>—  EigenCAM (3-5 ảnh): model tập trung đúng vùng cơ thể, không bị phân tâm bởi nền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56634F"/>
                </a:solidFill>
                <a:latin typeface="Calibri"/>
              </a:rPr>
              <a:t>—  → Không có lỗi trong tập test cùng phân bố để “sửa” — phải đổi hướng cho bước feedback loop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52"/>
                </a:solidFill>
                <a:latin typeface="Consolas"/>
              </a:rPr>
              <a:t>[ </a:t>
            </a:r>
            <a:r>
              <a:rPr sz="1300" b="0" i="0">
                <a:solidFill>
                  <a:srgbClr val="56634F"/>
                </a:solidFill>
                <a:latin typeface="Consolas"/>
              </a:rPr>
              <a:t>GIAI ĐOẠN 05 · FEEDBACK LOOP</a:t>
            </a:r>
            <a:r>
              <a:rPr sz="1300" b="1" i="0">
                <a:solidFill>
                  <a:srgbClr val="2E7D52"/>
                </a:solidFill>
                <a:latin typeface="Consolas"/>
              </a:rPr>
              <a:t>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E2A20"/>
                </a:solidFill>
                <a:latin typeface="Georgia"/>
              </a:rPr>
              <a:t>Đo lỗi thật ngoài phân bố, không sửa mù quáng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0" i="0">
                <a:solidFill>
                  <a:srgbClr val="56634F"/>
                </a:solidFill>
                <a:latin typeface="Calibri"/>
              </a:rPr>
              <a:t>—  18 ảnh thật, nguồn Kaggle — khác hoàn toàn Roboflow (khác chụp/nền/2 lớp)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56634F"/>
                </a:solidFill>
                <a:latin typeface="Calibri"/>
              </a:rPr>
              <a:t>—  1 lỗi duy nhất, khả năng do nhãn gốc dataset sai — không phải lỗi hệ thống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56634F"/>
                </a:solidFill>
                <a:latin typeface="Calibri"/>
              </a:rPr>
              <a:t>—  Kết luận: baseline đủ robust → không retrain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214884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/>
            <a:r>
              <a:rPr sz="3400" b="1" i="0">
                <a:solidFill>
                  <a:srgbClr val="2E7D52"/>
                </a:solidFill>
                <a:latin typeface="Georgia"/>
              </a:rPr>
              <a:t>94.4%</a:t>
            </a:r>
          </a:p>
          <a:p>
            <a:r>
              <a:rPr sz="1100" b="0" i="0">
                <a:solidFill>
                  <a:srgbClr val="56634F"/>
                </a:solidFill>
                <a:latin typeface="Consolas"/>
              </a:rPr>
              <a:t>17/18 ẢNH OOD ĐÚNG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52"/>
                </a:solidFill>
                <a:latin typeface="Consolas"/>
              </a:rPr>
              <a:t>[ </a:t>
            </a:r>
            <a:r>
              <a:rPr sz="1300" b="0" i="0">
                <a:solidFill>
                  <a:srgbClr val="56634F"/>
                </a:solidFill>
                <a:latin typeface="Consolas"/>
              </a:rPr>
              <a:t>GIAI ĐOẠN 06 · Ý TƯỞNG RIÊNG</a:t>
            </a:r>
            <a:r>
              <a:rPr sz="1300" b="1" i="0">
                <a:solidFill>
                  <a:srgbClr val="2E7D52"/>
                </a:solidFill>
                <a:latin typeface="Consolas"/>
              </a:rPr>
              <a:t>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E2A20"/>
                </a:solidFill>
                <a:latin typeface="Georgia"/>
              </a:rPr>
              <a:t>Góc khớp thật hiệu chỉnh ngưỡng, không đoán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3017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/>
            <a:r>
              <a:rPr sz="3400" b="1" i="0">
                <a:solidFill>
                  <a:srgbClr val="2E7D52"/>
                </a:solidFill>
                <a:latin typeface="Georgia"/>
              </a:rPr>
              <a:t>14/15</a:t>
            </a:r>
          </a:p>
          <a:p>
            <a:r>
              <a:rPr sz="1100" b="0" i="0">
                <a:solidFill>
                  <a:srgbClr val="56634F"/>
                </a:solidFill>
                <a:latin typeface="Consolas"/>
              </a:rPr>
              <a:t>ẢNH MẪU THẬT ĐÚNG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703320"/>
            <a:ext cx="3017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/>
            <a:r>
              <a:rPr sz="3400" b="1" i="0">
                <a:solidFill>
                  <a:srgbClr val="2E7D52"/>
                </a:solidFill>
                <a:latin typeface="Georgia"/>
              </a:rPr>
              <a:t>5/5</a:t>
            </a:r>
          </a:p>
          <a:p>
            <a:r>
              <a:rPr sz="1100" b="0" i="0">
                <a:solidFill>
                  <a:srgbClr val="56634F"/>
                </a:solidFill>
                <a:latin typeface="Consolas"/>
              </a:rPr>
              <a:t>CASE LANDMARK TỔNG HỢP — PHÁT HIỆN ĐÚNG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2194560"/>
            <a:ext cx="7589520" cy="2880360"/>
          </a:xfrm>
          <a:prstGeom prst="rect">
            <a:avLst/>
          </a:prstGeom>
          <a:solidFill>
            <a:srgbClr val="F7E4DD"/>
          </a:solidFill>
          <a:ln w="19050">
            <a:solidFill>
              <a:srgbClr val="C44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/>
            <a:r>
              <a:rPr sz="1000" b="1" i="0">
                <a:solidFill>
                  <a:srgbClr val="C4482E"/>
                </a:solidFill>
                <a:latin typeface="Consolas"/>
              </a:rPr>
              <a:t>2 HẠN CHẾ GHI NHẬN CÔNG KHAI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1E2A20"/>
                </a:solidFill>
                <a:latin typeface="Calibri"/>
              </a:rPr>
              <a:t>MediaPipe kém tin cậy trên tư thế lộn ngược, nền tương phản thấp — landmark detect sai. Góc chiếu 2D bị méo khi camera chụp xiên — hạn chế cố hữu của ảnh đơn không có depth, không phải bug.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52"/>
                </a:solidFill>
                <a:latin typeface="Consolas"/>
              </a:rPr>
              <a:t>[ </a:t>
            </a:r>
            <a:r>
              <a:rPr sz="1300" b="0" i="0">
                <a:solidFill>
                  <a:srgbClr val="56634F"/>
                </a:solidFill>
                <a:latin typeface="Consolas"/>
              </a:rPr>
              <a:t>GIAI ĐOẠN 07 · EXPORT &amp; BACKEND</a:t>
            </a:r>
            <a:r>
              <a:rPr sz="1300" b="1" i="0">
                <a:solidFill>
                  <a:srgbClr val="2E7D52"/>
                </a:solidFill>
                <a:latin typeface="Consolas"/>
              </a:rPr>
              <a:t>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E2A20"/>
                </a:solidFill>
                <a:latin typeface="Georgia"/>
              </a:rPr>
              <a:t>ONNX nhanh hơn PyTorch ~17% — nhưng CPU free-tier là CPU free-tier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286000"/>
          <a:ext cx="9601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56634F"/>
                          </a:solidFill>
                          <a:latin typeface="Consolas"/>
                        </a:rPr>
                        <a:t>NƠI ĐO</a:t>
                      </a:r>
                    </a:p>
                  </a:txBody>
                  <a:tcPr>
                    <a:solidFill>
                      <a:srgbClr val="F3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56634F"/>
                          </a:solidFill>
                          <a:latin typeface="Consolas"/>
                        </a:rPr>
                        <a:t>LATENCY</a:t>
                      </a:r>
                    </a:p>
                  </a:txBody>
                  <a:tcPr>
                    <a:solidFill>
                      <a:srgbClr val="F3F5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E2A20"/>
                          </a:solidFill>
                          <a:latin typeface="Calibri"/>
                        </a:rPr>
                        <a:t>PyTorch · GPU T4 (Colab)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E2A20"/>
                          </a:solidFill>
                          <a:latin typeface="Calibri"/>
                        </a:rPr>
                        <a:t>247.94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E7D52"/>
                          </a:solidFill>
                          <a:latin typeface="Calibri"/>
                        </a:rPr>
                        <a:t>ONNX Runtime · GPU T4 (Colab)</a:t>
                      </a:r>
                    </a:p>
                  </a:txBody>
                  <a:tcPr>
                    <a:solidFill>
                      <a:srgbClr val="E4F0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E7D52"/>
                          </a:solidFill>
                          <a:latin typeface="Calibri"/>
                        </a:rPr>
                        <a:t>206.29 ms</a:t>
                      </a:r>
                    </a:p>
                  </a:txBody>
                  <a:tcPr>
                    <a:solidFill>
                      <a:srgbClr val="E4F0E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E2A20"/>
                          </a:solidFill>
                          <a:latin typeface="Calibri"/>
                        </a:rPr>
                        <a:t>ONNX Runtime · CPU (local)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E2A20"/>
                          </a:solidFill>
                          <a:latin typeface="Calibri"/>
                        </a:rPr>
                        <a:t>245.8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E2A20"/>
                          </a:solidFill>
                          <a:latin typeface="Calibri"/>
                        </a:rPr>
                        <a:t>ONNX Runtime · CPU (Render free)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E2A20"/>
                          </a:solidFill>
                          <a:latin typeface="Calibri"/>
                        </a:rPr>
                        <a:t>~4.5 – 8.4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92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6634F"/>
                </a:solidFill>
                <a:latin typeface="Calibri"/>
              </a:rPr>
              <a:t>Chênh lệch CPU free-tier do tài nguyên bị giới hạn/chia sẻ mạnh — kết quả vẫn đúng, chỉ chậm hơn, không phải bug.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52"/>
                </a:solidFill>
                <a:latin typeface="Consolas"/>
              </a:rPr>
              <a:t>[ </a:t>
            </a:r>
            <a:r>
              <a:rPr sz="1300" b="0" i="0">
                <a:solidFill>
                  <a:srgbClr val="56634F"/>
                </a:solidFill>
                <a:latin typeface="Consolas"/>
              </a:rPr>
              <a:t>GIAI ĐOẠN 08-09 · WEB DEMO &amp; DEPLOY</a:t>
            </a:r>
            <a:r>
              <a:rPr sz="1300" b="1" i="0">
                <a:solidFill>
                  <a:srgbClr val="2E7D52"/>
                </a:solidFill>
                <a:latin typeface="Consolas"/>
              </a:rPr>
              <a:t>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E2A20"/>
                </a:solidFill>
                <a:latin typeface="Georgia"/>
              </a:rPr>
              <a:t>2 origin thật, HTTPS thật, camera thật trên iPhone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6634F"/>
                </a:solidFill>
                <a:latin typeface="Calibri"/>
              </a:rPr>
              <a:t>iPhone Safari  →  Cloudflare Pages (frontend tĩnh)  →  Render (backend Docker, free) — CORS qua env ALLOWED_ORIGINS.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9659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6634F"/>
                </a:solidFill>
                <a:latin typeface="Consolas"/>
              </a:rPr>
              <a:t>3 BUG MÔI TRƯỜNG THẬT, ĐÃ SỬA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2423160"/>
            <a:ext cx="594360" cy="274320"/>
          </a:xfrm>
          <a:prstGeom prst="rect">
            <a:avLst/>
          </a:prstGeom>
          <a:noFill/>
          <a:ln w="12700">
            <a:solidFill>
              <a:srgbClr val="2E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/>
          <a:lstStyle/>
          <a:p>
            <a:pPr algn="ctr"/>
            <a:r>
              <a:rPr sz="900" b="1" i="0">
                <a:solidFill>
                  <a:srgbClr val="2E7D52"/>
                </a:solidFill>
                <a:latin typeface="Consolas"/>
              </a:rPr>
              <a:t>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39572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56634F"/>
                </a:solidFill>
                <a:latin typeface="Calibri"/>
              </a:rPr>
              <a:t>Render chọn nhầm runtime Python thay vì Docker → chọn đúng Environment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971800"/>
            <a:ext cx="594360" cy="274320"/>
          </a:xfrm>
          <a:prstGeom prst="rect">
            <a:avLst/>
          </a:prstGeom>
          <a:noFill/>
          <a:ln w="12700">
            <a:solidFill>
              <a:srgbClr val="2E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/>
          <a:lstStyle/>
          <a:p>
            <a:pPr algn="ctr"/>
            <a:r>
              <a:rPr sz="900" b="1" i="0">
                <a:solidFill>
                  <a:srgbClr val="2E7D52"/>
                </a:solidFill>
                <a:latin typeface="Consolas"/>
              </a:rPr>
              <a:t>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94436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56634F"/>
                </a:solidFill>
                <a:latin typeface="Calibri"/>
              </a:rPr>
              <a:t>Thiếu libGL.so.1 trên container Linux tối giản → thêm apt package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520440"/>
            <a:ext cx="594360" cy="274320"/>
          </a:xfrm>
          <a:prstGeom prst="rect">
            <a:avLst/>
          </a:prstGeom>
          <a:noFill/>
          <a:ln w="12700">
            <a:solidFill>
              <a:srgbClr val="2E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/>
          <a:lstStyle/>
          <a:p>
            <a:pPr algn="ctr"/>
            <a:r>
              <a:rPr sz="900" b="1" i="0">
                <a:solidFill>
                  <a:srgbClr val="2E7D52"/>
                </a:solidFill>
                <a:latin typeface="Consolas"/>
              </a:rPr>
              <a:t>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49300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56634F"/>
                </a:solidFill>
                <a:latin typeface="Calibri"/>
              </a:rPr>
              <a:t>iOS Safari đẩy camera vào native fullscreen player → webkit-playsinline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52"/>
                </a:solidFill>
                <a:latin typeface="Consolas"/>
              </a:rPr>
              <a:t>[ </a:t>
            </a:r>
            <a:r>
              <a:rPr sz="1300" b="0" i="0">
                <a:solidFill>
                  <a:srgbClr val="56634F"/>
                </a:solidFill>
                <a:latin typeface="Consolas"/>
              </a:rPr>
              <a:t>LỖI &amp; BÀI HỌC</a:t>
            </a:r>
            <a:r>
              <a:rPr sz="1300" b="1" i="0">
                <a:solidFill>
                  <a:srgbClr val="2E7D52"/>
                </a:solidFill>
                <a:latin typeface="Consolas"/>
              </a:rPr>
              <a:t>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E2A20"/>
                </a:solidFill>
                <a:latin typeface="Georgia"/>
              </a:rPr>
              <a:t>Chẩn đoán từ log/screenshot thật — không đoán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31720"/>
            <a:ext cx="594360" cy="274320"/>
          </a:xfrm>
          <a:prstGeom prst="rect">
            <a:avLst/>
          </a:prstGeom>
          <a:noFill/>
          <a:ln w="12700">
            <a:solidFill>
              <a:srgbClr val="2E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/>
          <a:lstStyle/>
          <a:p>
            <a:pPr algn="ctr"/>
            <a:r>
              <a:rPr sz="900" b="1" i="0">
                <a:solidFill>
                  <a:srgbClr val="2E7D52"/>
                </a:solidFill>
                <a:latin typeface="Consolas"/>
              </a:rPr>
              <a:t>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2304288"/>
            <a:ext cx="9738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56634F"/>
                </a:solidFill>
                <a:latin typeface="Calibri"/>
              </a:rPr>
              <a:t>Tiền tố “yoga-pose ” chưa bỏ trước khi so sánh → OOD báo nhầm 0% — sửa bằng đối chiếu log gốc.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594360" cy="274320"/>
          </a:xfrm>
          <a:prstGeom prst="rect">
            <a:avLst/>
          </a:prstGeom>
          <a:noFill/>
          <a:ln w="12700">
            <a:solidFill>
              <a:srgbClr val="2E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/>
          <a:lstStyle/>
          <a:p>
            <a:pPr algn="ctr"/>
            <a:r>
              <a:rPr sz="900" b="1" i="0">
                <a:solidFill>
                  <a:srgbClr val="2E7D52"/>
                </a:solidFill>
                <a:latin typeface="Consolas"/>
              </a:rPr>
              <a:t>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898648"/>
            <a:ext cx="9738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56634F"/>
                </a:solidFill>
                <a:latin typeface="Calibri"/>
              </a:rPr>
              <a:t>mediapipe ≥ 1.0 bỏ hẳn solutions.pose (API cũ) → pin đúng bản còn API, xác nhận qua lỗi build thật.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20440"/>
            <a:ext cx="594360" cy="274320"/>
          </a:xfrm>
          <a:prstGeom prst="rect">
            <a:avLst/>
          </a:prstGeom>
          <a:noFill/>
          <a:ln w="12700">
            <a:solidFill>
              <a:srgbClr val="2E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/>
          <a:lstStyle/>
          <a:p>
            <a:pPr algn="ctr"/>
            <a:r>
              <a:rPr sz="900" b="1" i="0">
                <a:solidFill>
                  <a:srgbClr val="2E7D52"/>
                </a:solidFill>
                <a:latin typeface="Consolas"/>
              </a:rPr>
              <a:t>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493008"/>
            <a:ext cx="9738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56634F"/>
                </a:solidFill>
                <a:latin typeface="Calibri"/>
              </a:rPr>
              <a:t>Letterbox rounding lệch ~2.3px trên ảnh tỉ lệ cực đoan → làm tròn pad 1 lần, dùng lại nhất quán.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14800"/>
            <a:ext cx="594360" cy="274320"/>
          </a:xfrm>
          <a:prstGeom prst="rect">
            <a:avLst/>
          </a:prstGeom>
          <a:noFill/>
          <a:ln w="12700">
            <a:solidFill>
              <a:srgbClr val="2E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/>
          <a:lstStyle/>
          <a:p>
            <a:pPr algn="ctr"/>
            <a:r>
              <a:rPr sz="900" b="1" i="0">
                <a:solidFill>
                  <a:srgbClr val="2E7D52"/>
                </a:solidFill>
                <a:latin typeface="Consolas"/>
              </a:rPr>
              <a:t>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087368"/>
            <a:ext cx="9738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56634F"/>
                </a:solidFill>
                <a:latin typeface="Calibri"/>
              </a:rPr>
              <a:t>3 bug deploy (runtime Docker, libGL, iOS fullscreen) — chẩn đoán trực tiếp từ log/screenshot thật.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52"/>
                </a:solidFill>
                <a:latin typeface="Consolas"/>
              </a:rPr>
              <a:t>[ </a:t>
            </a:r>
            <a:r>
              <a:rPr sz="1300" b="0" i="0">
                <a:solidFill>
                  <a:srgbClr val="56634F"/>
                </a:solidFill>
                <a:latin typeface="Consolas"/>
              </a:rPr>
              <a:t>TRÌNH DIỄN TRỰC TIẾP</a:t>
            </a:r>
            <a:r>
              <a:rPr sz="1300" b="1" i="0">
                <a:solidFill>
                  <a:srgbClr val="2E7D52"/>
                </a:solidFill>
                <a:latin typeface="Consolas"/>
              </a:rPr>
              <a:t>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A20"/>
                </a:solidFill>
                <a:latin typeface="Georgia"/>
              </a:rPr>
              <a:t>Camera thật · HTTPS thật · kết quả thật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749039"/>
            <a:ext cx="4489704" cy="457200"/>
          </a:xfrm>
          <a:prstGeom prst="rect">
            <a:avLst/>
          </a:prstGeom>
          <a:solidFill>
            <a:srgbClr val="EAEEE1"/>
          </a:solidFill>
          <a:ln>
            <a:solidFill>
              <a:srgbClr val="D7DE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73152"/>
          <a:lstStyle/>
          <a:p>
            <a:pPr algn="ctr"/>
            <a:r>
              <a:rPr sz="1400" b="1" i="0">
                <a:solidFill>
                  <a:srgbClr val="1E2A20"/>
                </a:solidFill>
                <a:latin typeface="Consolas"/>
              </a:rPr>
              <a:t>computer-vision-project.pthieu290998.workers.dev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6634F"/>
                </a:solidFill>
                <a:latin typeface="Calibri"/>
              </a:rPr>
              <a:t>Quay trực tiếp lúc trình bày — camera trên điện thoại thật qua URL public, không dùng ảnh chụp màn hình dựng sẵn.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7D52"/>
                </a:solidFill>
                <a:latin typeface="Consolas"/>
              </a:rPr>
              <a:t>[ </a:t>
            </a:r>
            <a:r>
              <a:rPr sz="1300" b="0" i="0">
                <a:solidFill>
                  <a:srgbClr val="56634F"/>
                </a:solidFill>
                <a:latin typeface="Consolas"/>
              </a:rPr>
              <a:t>KẾT</a:t>
            </a:r>
            <a:r>
              <a:rPr sz="1300" b="1" i="0">
                <a:solidFill>
                  <a:srgbClr val="2E7D52"/>
                </a:solidFill>
                <a:latin typeface="Consolas"/>
              </a:rPr>
              <a:t>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E2A20"/>
                </a:solidFill>
                <a:latin typeface="Georgia"/>
              </a:rPr>
              <a:t>Cảm ơn — câu hỏi?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0" i="0">
                <a:solidFill>
                  <a:srgbClr val="56634F"/>
                </a:solidFill>
                <a:latin typeface="Calibri"/>
              </a:rPr>
              <a:t>—  Repo: github.com/tom-the-prgrmr/computer-vision-project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56634F"/>
                </a:solidFill>
                <a:latin typeface="Calibri"/>
              </a:rPr>
              <a:t>—  Demo live: computer-vision-project.pthieu290998.workers.dev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56634F"/>
                </a:solidFill>
                <a:latin typeface="Calibri"/>
              </a:rPr>
              <a:t>—  Kiến trúc: docs/architecture.md</a:t>
            </a:r>
          </a:p>
          <a:p>
            <a:pPr>
              <a:spcAft>
                <a:spcPts val="1400"/>
              </a:spcAft>
            </a:pPr>
            <a:r>
              <a:rPr sz="1500" b="0" i="0">
                <a:solidFill>
                  <a:srgbClr val="56634F"/>
                </a:solidFill>
                <a:latin typeface="Calibri"/>
              </a:rPr>
              <a:t>—  Chi tiết 7 mục rubric: docs/problem_statement.md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